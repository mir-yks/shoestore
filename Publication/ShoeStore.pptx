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39" r:id="rId1"/>
  </p:sldMasterIdLst>
  <p:sldIdLst>
    <p:sldId id="284" r:id="rId2"/>
    <p:sldId id="257" r:id="rId3"/>
    <p:sldId id="282" r:id="rId4"/>
    <p:sldId id="272" r:id="rId5"/>
    <p:sldId id="275" r:id="rId6"/>
    <p:sldId id="273" r:id="rId7"/>
    <p:sldId id="274" r:id="rId8"/>
    <p:sldId id="276" r:id="rId9"/>
    <p:sldId id="277" r:id="rId10"/>
    <p:sldId id="28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419C"/>
    <a:srgbClr val="123BAE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80" d="100"/>
          <a:sy n="80" d="100"/>
        </p:scale>
        <p:origin x="-662" y="-1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509752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4186622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255896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99975098"/>
      </p:ext>
    </p:extLst>
  </p:cSld>
  <p:clrMapOvr>
    <a:masterClrMapping/>
  </p:clrMapOvr>
  <p:extLst>
    <p:ext uri="{DCECCB84-F9BA-43D5-87BE-67443E8EF086}">
      <p15:sldGuideLst xmlns=""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691994714"/>
      </p:ext>
    </p:extLst>
  </p:cSld>
  <p:clrMapOvr>
    <a:masterClrMapping/>
  </p:clrMapOvr>
  <p:extLst>
    <p:ext uri="{DCECCB84-F9BA-43D5-87BE-67443E8EF086}">
      <p15:sldGuideLst xmlns=""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409742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540944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15439884"/>
      </p:ext>
    </p:extLst>
  </p:cSld>
  <p:clrMapOvr>
    <a:masterClrMapping/>
  </p:clrMapOvr>
  <p:extLst>
    <p:ext uri="{DCECCB84-F9BA-43D5-87BE-67443E8EF086}">
      <p15:sldGuideLst xmlns=""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349152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387977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570333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105851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0" r:id="rId1"/>
    <p:sldLayoutId id="2147483941" r:id="rId2"/>
    <p:sldLayoutId id="2147483942" r:id="rId3"/>
    <p:sldLayoutId id="2147483943" r:id="rId4"/>
    <p:sldLayoutId id="2147483944" r:id="rId5"/>
    <p:sldLayoutId id="2147483945" r:id="rId6"/>
    <p:sldLayoutId id="2147483946" r:id="rId7"/>
    <p:sldLayoutId id="2147483947" r:id="rId8"/>
    <p:sldLayoutId id="2147483948" r:id="rId9"/>
    <p:sldLayoutId id="2147483949" r:id="rId10"/>
    <p:sldLayoutId id="214748395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=""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chemeClr val="accent1"/>
          </a:solidFill>
        </p:spPr>
        <p:txBody>
          <a:bodyPr>
            <a:normAutofit/>
          </a:bodyPr>
          <a:lstStyle/>
          <a:p>
            <a:r>
              <a:rPr lang="ru-RU" b="1" dirty="0" smtClean="0">
                <a:solidFill>
                  <a:schemeClr val="bg1"/>
                </a:solidFill>
              </a:rPr>
              <a:t>УП. 02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/>
          <a:lstStyle/>
          <a:p>
            <a:r>
              <a:rPr lang="ru-RU" b="1" dirty="0" smtClean="0">
                <a:solidFill>
                  <a:srgbClr val="002060"/>
                </a:solidFill>
              </a:rPr>
              <a:t>Тема: </a:t>
            </a:r>
            <a:r>
              <a:rPr lang="ru-RU" b="1" dirty="0" smtClean="0"/>
              <a:t>Магазин обуви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образования и науки Нижегородской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="" xmlns:p14="http://schemas.microsoft.com/office/powerpoint/2010/main" val="1566425014"/>
              </p:ext>
            </p:extLst>
          </p:nvPr>
        </p:nvGraphicFramePr>
        <p:xfrm>
          <a:off x="7383166" y="4673474"/>
          <a:ext cx="9152234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60517">
                  <a:extLst>
                    <a:ext uri="{9D8B030D-6E8A-4147-A177-3AD203B41FA5}">
                      <a16:colId xmlns="" xmlns:a16="http://schemas.microsoft.com/office/drawing/2014/main" val="856406293"/>
                    </a:ext>
                  </a:extLst>
                </a:gridCol>
                <a:gridCol w="4391717">
                  <a:extLst>
                    <a:ext uri="{9D8B030D-6E8A-4147-A177-3AD203B41FA5}">
                      <a16:colId xmlns="" xmlns:a16="http://schemas.microsoft.com/office/drawing/2014/main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Выполнил: </a:t>
                      </a:r>
                      <a:r>
                        <a:rPr lang="ru-RU" baseline="0" dirty="0" err="1" smtClean="0"/>
                        <a:t>Мудров</a:t>
                      </a:r>
                      <a:r>
                        <a:rPr lang="ru-RU" baseline="0" dirty="0" smtClean="0"/>
                        <a:t> Максим  Андреевич</a:t>
                      </a:r>
                      <a:endParaRPr lang="ru-RU" dirty="0" smtClean="0"/>
                    </a:p>
                    <a:p>
                      <a:pPr algn="l"/>
                      <a:r>
                        <a:rPr lang="ru-RU" baseline="0" dirty="0" smtClean="0"/>
                        <a:t>                       Студент 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</p:spTree>
    <p:extLst>
      <p:ext uri="{BB962C8B-B14F-4D97-AF65-F5344CB8AC3E}">
        <p14:creationId xmlns="" xmlns:p14="http://schemas.microsoft.com/office/powerpoint/2010/main" val="429053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Обзор проекта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marL="0" indent="54000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ShoeStore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— это мобильное Android-приложение для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маркетплейса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спортивной обуви. Оно построено на современных технологиях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Android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работает с REST API для связи с сервером, использует декларативный интерфейс (типа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) и четко разделяет код на слои по принципам чистой архитектуры.</a:t>
            </a:r>
          </a:p>
          <a:p>
            <a:pPr marL="0" indent="540000"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Главный акцент в разработке — на качественной структуре кода, эффективном управлении состоянием экранов и стабильной работе с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бэкендом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 descr="Android_logo_(2019-2023)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4425315"/>
            <a:ext cx="6372225" cy="975747"/>
          </a:xfrm>
          <a:prstGeom prst="rect">
            <a:avLst/>
          </a:prstGeom>
        </p:spPr>
      </p:pic>
      <p:pic>
        <p:nvPicPr>
          <p:cNvPr id="7" name="Рисунок 6" descr="rests.400x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0" y="3962400"/>
            <a:ext cx="3048000" cy="16764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950111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Функциональная структура приложения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endParaRPr lang="ru-RU" sz="2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6689" y="1351599"/>
            <a:ext cx="2253396" cy="46396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552700" y="1343025"/>
            <a:ext cx="2286282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919663" y="1338262"/>
            <a:ext cx="2239929" cy="4633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7200900" y="1323976"/>
            <a:ext cx="2231130" cy="46577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9567864" y="1333501"/>
            <a:ext cx="2245538" cy="4686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1758322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Функциональная структура приложения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endParaRPr lang="ru-RU" sz="26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3839" y="1481618"/>
            <a:ext cx="2214562" cy="4635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543917" y="1495425"/>
            <a:ext cx="2218584" cy="461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843464" y="1488283"/>
            <a:ext cx="2243135" cy="46519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7148514" y="1485900"/>
            <a:ext cx="2230098" cy="4676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9469438" y="1500188"/>
            <a:ext cx="2227261" cy="46639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1758322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Архитектурный подход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399"/>
            <a:ext cx="11515724" cy="5273675"/>
          </a:xfrm>
        </p:spPr>
        <p:txBody>
          <a:bodyPr>
            <a:normAutofit fontScale="92500"/>
          </a:bodyPr>
          <a:lstStyle/>
          <a:p>
            <a:pPr marL="0" indent="540000" algn="just">
              <a:buNone/>
            </a:pPr>
            <a:r>
              <a:rPr lang="en-US" sz="2600" dirty="0" smtClean="0"/>
              <a:t>	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приложении применяется архитектурный подход 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MVVM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который хорошо сочетается с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 соответствует рекомендациям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Android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0" indent="540000" algn="just">
              <a:buNone/>
            </a:pP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Зачем используется MVVM</a:t>
            </a:r>
          </a:p>
          <a:p>
            <a:pPr marL="0" indent="540000"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Отделяет внешний вид экранов от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бизнес-логики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чтобы их можно было развивать независимо.</a:t>
            </a:r>
          </a:p>
          <a:p>
            <a:pPr marL="0" indent="540000"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Даёт единый центр управления состоянием интерфейса, что упрощает работу с данными.</a:t>
            </a:r>
          </a:p>
          <a:p>
            <a:pPr marL="0" indent="540000"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Делает проект проще в поддержке и добавлении новых функций за счёт понятной структуры.</a:t>
            </a:r>
          </a:p>
          <a:p>
            <a:pPr marL="0" indent="540000" algn="just">
              <a:buNone/>
            </a:pP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Организация экранов</a:t>
            </a:r>
          </a:p>
          <a:p>
            <a:pPr marL="0" indent="540000" algn="just"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У каждого экрана есть своя собственная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поэтому компоненты меньше зависят друг от друга.</a:t>
            </a:r>
          </a:p>
          <a:p>
            <a:pPr marL="0" indent="540000" algn="just"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Такая изоляция позволяет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переиспользовать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логику и снижает риск побочных эффектов между экранами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60368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Реализация </a:t>
            </a:r>
            <a:r>
              <a:rPr lang="en-US" sz="4000" b="1" dirty="0" smtClean="0">
                <a:solidFill>
                  <a:schemeClr val="bg1"/>
                </a:solidFill>
              </a:rPr>
              <a:t>MVVM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marL="0" indent="540000">
              <a:buNone/>
            </a:pPr>
            <a:r>
              <a:rPr lang="ru-RU" b="1" dirty="0" smtClean="0"/>
              <a:t>Compose-экраны</a:t>
            </a:r>
            <a:r>
              <a:rPr lang="ru-RU" dirty="0" smtClean="0"/>
              <a:t> </a:t>
            </a:r>
            <a:r>
              <a:rPr lang="ru-RU" dirty="0" smtClean="0"/>
              <a:t>— это </a:t>
            </a:r>
            <a:r>
              <a:rPr lang="ru-RU" b="1" dirty="0" err="1" smtClean="0"/>
              <a:t>View</a:t>
            </a:r>
            <a:r>
              <a:rPr lang="ru-RU" dirty="0" smtClean="0"/>
              <a:t>: показывают UI и просто подписываются на состояния </a:t>
            </a:r>
            <a:r>
              <a:rPr lang="ru-RU" dirty="0" err="1" smtClean="0"/>
              <a:t>ViewModel</a:t>
            </a:r>
            <a:r>
              <a:rPr lang="ru-RU" dirty="0" smtClean="0"/>
              <a:t>, автоматически обновляясь при их изменении.</a:t>
            </a:r>
          </a:p>
          <a:p>
            <a:pPr marL="0" indent="540000">
              <a:buNone/>
            </a:pPr>
            <a:r>
              <a:rPr lang="ru-RU" b="1" dirty="0" err="1" smtClean="0"/>
              <a:t>ViewModel</a:t>
            </a:r>
            <a:r>
              <a:rPr lang="ru-RU" dirty="0" smtClean="0"/>
              <a:t> обрабатывает действия пользователя, собирает UI‑состояние и обращается к сетевому слою.</a:t>
            </a:r>
          </a:p>
          <a:p>
            <a:pPr marL="0" indent="540000">
              <a:buNone/>
            </a:pPr>
            <a:r>
              <a:rPr lang="ru-RU" b="1" dirty="0" smtClean="0"/>
              <a:t>Сетевой/Repository‑слой</a:t>
            </a:r>
            <a:r>
              <a:rPr lang="ru-RU" dirty="0" smtClean="0"/>
              <a:t> скрывает работу с API и отдаёт </a:t>
            </a:r>
            <a:r>
              <a:rPr lang="ru-RU" dirty="0" err="1" smtClean="0"/>
              <a:t>ViewModel</a:t>
            </a:r>
            <a:r>
              <a:rPr lang="ru-RU" dirty="0" smtClean="0"/>
              <a:t> уже подготовленные данные, без деталей сетевых запросов.</a:t>
            </a:r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1443492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Диаграмма вариантов использования</a:t>
            </a:r>
            <a:endParaRPr lang="ru-RU" sz="4000" b="1" dirty="0">
              <a:solidFill>
                <a:schemeClr val="bg1"/>
              </a:solidFill>
            </a:endParaRPr>
          </a:p>
        </p:txBody>
      </p:sp>
      <p:pic>
        <p:nvPicPr>
          <p:cNvPr id="7" name="Содержимое 6" descr="Диаграмма использования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499" y="1406683"/>
            <a:ext cx="4693265" cy="5136992"/>
          </a:xfrm>
        </p:spPr>
      </p:pic>
    </p:spTree>
    <p:extLst>
      <p:ext uri="{BB962C8B-B14F-4D97-AF65-F5344CB8AC3E}">
        <p14:creationId xmlns="" xmlns:p14="http://schemas.microsoft.com/office/powerpoint/2010/main" val="2105756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Реализация</a:t>
            </a:r>
            <a:r>
              <a:rPr lang="ru-RU" sz="4000" dirty="0" smtClean="0"/>
              <a:t> </a:t>
            </a:r>
            <a:r>
              <a:rPr lang="ru-RU" sz="4000" b="1" dirty="0" smtClean="0">
                <a:solidFill>
                  <a:schemeClr val="bg1"/>
                </a:solidFill>
              </a:rPr>
              <a:t>пользовательского интерфейса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marL="0" indent="540000">
              <a:buNone/>
            </a:pPr>
            <a:r>
              <a:rPr lang="en-US" sz="2400" b="1" dirty="0" smtClean="0"/>
              <a:t>MVVM</a:t>
            </a:r>
            <a:r>
              <a:rPr lang="en-US" sz="2400" dirty="0" smtClean="0"/>
              <a:t> </a:t>
            </a:r>
            <a:r>
              <a:rPr lang="ru-RU" sz="2400" dirty="0" smtClean="0"/>
              <a:t>в приложении:</a:t>
            </a:r>
          </a:p>
          <a:p>
            <a:pPr marL="0" indent="540000" algn="just">
              <a:buNone/>
            </a:pPr>
            <a:r>
              <a:rPr lang="en-US" sz="2400" b="1" dirty="0" smtClean="0"/>
              <a:t>Compose-</a:t>
            </a:r>
            <a:r>
              <a:rPr lang="ru-RU" sz="2400" b="1" dirty="0" smtClean="0"/>
              <a:t>экраны</a:t>
            </a:r>
            <a:r>
              <a:rPr lang="ru-RU" sz="2400" dirty="0" smtClean="0"/>
              <a:t> (</a:t>
            </a:r>
            <a:r>
              <a:rPr lang="en-US" sz="2400" b="1" dirty="0" smtClean="0"/>
              <a:t>View</a:t>
            </a:r>
            <a:r>
              <a:rPr lang="en-US" sz="2400" dirty="0" smtClean="0"/>
              <a:t>): </a:t>
            </a:r>
            <a:r>
              <a:rPr lang="ru-RU" sz="2400" dirty="0" smtClean="0"/>
              <a:t>Только </a:t>
            </a:r>
            <a:r>
              <a:rPr lang="en-US" sz="2400" dirty="0" smtClean="0"/>
              <a:t>UI + </a:t>
            </a:r>
            <a:r>
              <a:rPr lang="en-US" sz="2400" dirty="0" err="1" smtClean="0"/>
              <a:t>collectAsState</a:t>
            </a:r>
            <a:r>
              <a:rPr lang="en-US" sz="2400" dirty="0" smtClean="0"/>
              <a:t>() </a:t>
            </a:r>
            <a:r>
              <a:rPr lang="ru-RU" sz="2400" dirty="0" smtClean="0"/>
              <a:t>на </a:t>
            </a:r>
            <a:r>
              <a:rPr lang="en-US" sz="2400" dirty="0" err="1" smtClean="0"/>
              <a:t>ViewModel</a:t>
            </a:r>
            <a:r>
              <a:rPr lang="en-US" sz="2400" dirty="0" smtClean="0"/>
              <a:t>. </a:t>
            </a:r>
            <a:r>
              <a:rPr lang="ru-RU" sz="2400" dirty="0" smtClean="0"/>
              <a:t>Без </a:t>
            </a:r>
            <a:r>
              <a:rPr lang="ru-RU" sz="2400" dirty="0" err="1" smtClean="0"/>
              <a:t>бизнес-логики</a:t>
            </a:r>
            <a:r>
              <a:rPr lang="ru-RU" sz="2400" dirty="0" smtClean="0"/>
              <a:t>.​</a:t>
            </a:r>
          </a:p>
          <a:p>
            <a:pPr marL="0" indent="540000" algn="just">
              <a:buNone/>
            </a:pPr>
            <a:r>
              <a:rPr lang="en-US" sz="2400" b="1" dirty="0" err="1" smtClean="0"/>
              <a:t>ViewModel</a:t>
            </a:r>
            <a:r>
              <a:rPr lang="en-US" sz="2400" dirty="0" smtClean="0"/>
              <a:t>:</a:t>
            </a:r>
          </a:p>
          <a:p>
            <a:pPr marL="542925" indent="533400" algn="just"/>
            <a:r>
              <a:rPr lang="ru-RU" sz="2400" dirty="0" smtClean="0"/>
              <a:t>Обрабатывает клики</a:t>
            </a:r>
          </a:p>
          <a:p>
            <a:pPr marL="542925" indent="533400" algn="just"/>
            <a:r>
              <a:rPr lang="ru-RU" sz="2400" dirty="0" smtClean="0"/>
              <a:t>Управляет </a:t>
            </a:r>
            <a:r>
              <a:rPr lang="en-US" sz="2400" dirty="0" err="1" smtClean="0"/>
              <a:t>StateFlow</a:t>
            </a:r>
            <a:r>
              <a:rPr lang="en-US" sz="2400" dirty="0" smtClean="0"/>
              <a:t> (loading/error/data)</a:t>
            </a:r>
          </a:p>
          <a:p>
            <a:pPr marL="542925" indent="533400" algn="just"/>
            <a:r>
              <a:rPr lang="ru-RU" sz="2400" dirty="0" smtClean="0"/>
              <a:t>Вызывает </a:t>
            </a:r>
            <a:r>
              <a:rPr lang="en-US" sz="2400" dirty="0" smtClean="0"/>
              <a:t>API​</a:t>
            </a:r>
          </a:p>
          <a:p>
            <a:pPr marL="0" indent="540000" algn="just">
              <a:buNone/>
            </a:pPr>
            <a:r>
              <a:rPr lang="en-US" sz="2400" b="1" dirty="0" err="1" smtClean="0"/>
              <a:t>RetrofitInstance</a:t>
            </a:r>
            <a:r>
              <a:rPr lang="en-US" sz="2400" dirty="0" smtClean="0"/>
              <a:t>:</a:t>
            </a:r>
            <a:r>
              <a:rPr lang="en-US" sz="2400" dirty="0" smtClean="0"/>
              <a:t> </a:t>
            </a:r>
            <a:r>
              <a:rPr lang="ru-RU" sz="2400" dirty="0" smtClean="0"/>
              <a:t>Скрывает сеть, дает готовые данные.​</a:t>
            </a:r>
          </a:p>
          <a:p>
            <a:pPr marL="0" indent="540000" algn="just">
              <a:buNone/>
            </a:pPr>
            <a:r>
              <a:rPr lang="ru-RU" sz="2400" b="1" dirty="0" smtClean="0"/>
              <a:t>Поток</a:t>
            </a:r>
            <a:r>
              <a:rPr lang="ru-RU" sz="2400" dirty="0" smtClean="0"/>
              <a:t>: Экран → </a:t>
            </a:r>
            <a:r>
              <a:rPr lang="en-US" sz="2400" dirty="0" err="1" smtClean="0"/>
              <a:t>ViewModel</a:t>
            </a:r>
            <a:r>
              <a:rPr lang="en-US" sz="2400" dirty="0" smtClean="0"/>
              <a:t> → API → UI </a:t>
            </a:r>
            <a:r>
              <a:rPr lang="ru-RU" sz="2400" dirty="0" smtClean="0"/>
              <a:t>обновление.</a:t>
            </a:r>
          </a:p>
          <a:p>
            <a:pPr algn="just">
              <a:lnSpc>
                <a:spcPct val="80000"/>
              </a:lnSpc>
              <a:buNone/>
            </a:pPr>
            <a:endParaRPr lang="ru-RU" sz="2400" dirty="0"/>
          </a:p>
        </p:txBody>
      </p:sp>
      <p:sp>
        <p:nvSpPr>
          <p:cNvPr id="10242" name="AutoShape 2" descr="How to Build a Stunning Animated Progress Button | ProAndroidDev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44" name="AutoShape 4" descr="How to Build a Stunning Animated Progress Button | ProAndroidDev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46" name="AutoShape 6" descr="How to Build a Stunning Animated Progress Button | ProAndroidDev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48" name="AutoShape 8" descr="README ru - Coil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50" name="AutoShape 10" descr="README ru - Coil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52" name="AutoShape 12" descr="README ru - Coil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="" xmlns:p14="http://schemas.microsoft.com/office/powerpoint/2010/main" val="2652899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68747470733a2f2f6d69726f2e6d656469756d2e636f6d2f76322f726573697a653a6669743a313430302f312a706e537a6d464a52434a7a745337746b534a585975512e6a706567.jf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" y="3919537"/>
            <a:ext cx="3629025" cy="87606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Сетевое взаимодействие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marL="0" indent="540000" algn="just">
              <a:buNone/>
            </a:pPr>
            <a:r>
              <a:rPr lang="en-US" sz="2400" dirty="0" smtClean="0"/>
              <a:t>		</a:t>
            </a:r>
            <a:r>
              <a:rPr lang="ru-RU" sz="2400" dirty="0" smtClean="0"/>
              <a:t>Используется стек для сети: </a:t>
            </a:r>
            <a:r>
              <a:rPr lang="en-US" sz="2400" b="1" dirty="0" smtClean="0"/>
              <a:t>Retrofit</a:t>
            </a:r>
            <a:r>
              <a:rPr lang="en-US" sz="2400" dirty="0" smtClean="0"/>
              <a:t> </a:t>
            </a:r>
            <a:r>
              <a:rPr lang="en-US" sz="2400" b="1" dirty="0" smtClean="0"/>
              <a:t>2</a:t>
            </a:r>
            <a:r>
              <a:rPr lang="en-US" sz="2400" dirty="0" smtClean="0"/>
              <a:t> + </a:t>
            </a:r>
            <a:r>
              <a:rPr lang="en-US" sz="2400" b="1" dirty="0" err="1" smtClean="0"/>
              <a:t>OkHttp</a:t>
            </a:r>
            <a:r>
              <a:rPr lang="en-US" sz="2400" dirty="0" smtClean="0"/>
              <a:t> + </a:t>
            </a:r>
            <a:r>
              <a:rPr lang="en-US" sz="2400" b="1" dirty="0" err="1" smtClean="0"/>
              <a:t>Supabase</a:t>
            </a:r>
            <a:r>
              <a:rPr lang="en-US" sz="2400" dirty="0" smtClean="0"/>
              <a:t> + </a:t>
            </a:r>
            <a:r>
              <a:rPr lang="en-US" sz="2400" b="1" dirty="0" err="1" smtClean="0"/>
              <a:t>Gson</a:t>
            </a:r>
            <a:r>
              <a:rPr lang="en-US" sz="2400" dirty="0" smtClean="0"/>
              <a:t>.</a:t>
            </a:r>
          </a:p>
          <a:p>
            <a:pPr marL="0" indent="540000" algn="just">
              <a:buNone/>
            </a:pPr>
            <a:r>
              <a:rPr lang="en-US" sz="2400" b="1" dirty="0" smtClean="0"/>
              <a:t>Retrofit</a:t>
            </a:r>
            <a:r>
              <a:rPr lang="en-US" sz="2400" dirty="0" smtClean="0"/>
              <a:t> </a:t>
            </a:r>
            <a:r>
              <a:rPr lang="ru-RU" sz="2400" dirty="0" smtClean="0"/>
              <a:t>задаёт </a:t>
            </a:r>
            <a:r>
              <a:rPr lang="en-US" sz="2400" dirty="0" smtClean="0"/>
              <a:t>REST-</a:t>
            </a:r>
            <a:r>
              <a:rPr lang="ru-RU" sz="2400" dirty="0" smtClean="0"/>
              <a:t>интерфейсы и сразу </a:t>
            </a:r>
            <a:r>
              <a:rPr lang="ru-RU" sz="2400" dirty="0" err="1" smtClean="0"/>
              <a:t>парсит</a:t>
            </a:r>
            <a:r>
              <a:rPr lang="ru-RU" sz="2400" dirty="0" smtClean="0"/>
              <a:t> ответы сервера в </a:t>
            </a:r>
            <a:r>
              <a:rPr lang="en-US" sz="2400" dirty="0" err="1" smtClean="0"/>
              <a:t>Kotlin</a:t>
            </a:r>
            <a:r>
              <a:rPr lang="en-US" sz="2400" dirty="0" smtClean="0"/>
              <a:t>-</a:t>
            </a:r>
            <a:r>
              <a:rPr lang="ru-RU" sz="2400" dirty="0" smtClean="0"/>
              <a:t>модели.</a:t>
            </a:r>
          </a:p>
          <a:p>
            <a:pPr marL="0" indent="540000" algn="just">
              <a:buNone/>
            </a:pPr>
            <a:r>
              <a:rPr lang="en-US" sz="2400" b="1" dirty="0" err="1" smtClean="0"/>
              <a:t>OkHttp</a:t>
            </a:r>
            <a:r>
              <a:rPr lang="en-US" sz="2400" dirty="0" smtClean="0"/>
              <a:t> </a:t>
            </a:r>
            <a:r>
              <a:rPr lang="ru-RU" sz="2400" dirty="0" smtClean="0"/>
              <a:t>выполняет сами </a:t>
            </a:r>
            <a:r>
              <a:rPr lang="en-US" sz="2400" dirty="0" smtClean="0"/>
              <a:t>HTTP-</a:t>
            </a:r>
            <a:r>
              <a:rPr lang="ru-RU" sz="2400" dirty="0" smtClean="0"/>
              <a:t>запросы и управляет подключениями.</a:t>
            </a:r>
          </a:p>
          <a:p>
            <a:pPr marL="0" indent="540000" algn="just">
              <a:buNone/>
            </a:pPr>
            <a:r>
              <a:rPr lang="ru-RU" sz="2400" dirty="0" smtClean="0"/>
              <a:t>На </a:t>
            </a:r>
            <a:r>
              <a:rPr lang="ru-RU" sz="2400" dirty="0" err="1" smtClean="0"/>
              <a:t>бэкенде</a:t>
            </a:r>
            <a:r>
              <a:rPr lang="ru-RU" sz="2400" dirty="0" smtClean="0"/>
              <a:t> — </a:t>
            </a:r>
            <a:r>
              <a:rPr lang="en-US" sz="2400" b="1" dirty="0" err="1" smtClean="0"/>
              <a:t>Supabase</a:t>
            </a:r>
            <a:r>
              <a:rPr lang="en-US" sz="2400" b="1" dirty="0" smtClean="0"/>
              <a:t> REST API</a:t>
            </a:r>
            <a:r>
              <a:rPr lang="en-US" sz="2400" dirty="0" smtClean="0"/>
              <a:t>, </a:t>
            </a:r>
            <a:r>
              <a:rPr lang="ru-RU" sz="2400" dirty="0" smtClean="0"/>
              <a:t>отдающий данные о товарах и категориях.</a:t>
            </a:r>
          </a:p>
          <a:p>
            <a:pPr marL="0" indent="540000" algn="just">
              <a:buNone/>
            </a:pPr>
            <a:r>
              <a:rPr lang="ru-RU" sz="2400" dirty="0" smtClean="0"/>
              <a:t>Для преобразования </a:t>
            </a:r>
            <a:r>
              <a:rPr lang="en-US" sz="2400" b="1" dirty="0" smtClean="0"/>
              <a:t>JSON</a:t>
            </a:r>
            <a:r>
              <a:rPr lang="en-US" sz="2400" dirty="0" smtClean="0"/>
              <a:t> ↔ </a:t>
            </a:r>
            <a:r>
              <a:rPr lang="en-US" sz="2400" dirty="0" err="1" smtClean="0"/>
              <a:t>Kotlin</a:t>
            </a:r>
            <a:r>
              <a:rPr lang="en-US" sz="2400" dirty="0" smtClean="0"/>
              <a:t>-</a:t>
            </a:r>
            <a:r>
              <a:rPr lang="ru-RU" sz="2400" dirty="0" smtClean="0"/>
              <a:t>объекты применяется </a:t>
            </a:r>
            <a:r>
              <a:rPr lang="en-US" sz="2400" dirty="0" err="1" smtClean="0"/>
              <a:t>Gson</a:t>
            </a:r>
            <a:r>
              <a:rPr lang="en-US" sz="2400" dirty="0" smtClean="0"/>
              <a:t>.</a:t>
            </a:r>
          </a:p>
          <a:p>
            <a:pPr algn="just">
              <a:lnSpc>
                <a:spcPct val="80000"/>
              </a:lnSpc>
              <a:buNone/>
            </a:pPr>
            <a:endParaRPr lang="ru-RU" sz="2400" dirty="0"/>
          </a:p>
        </p:txBody>
      </p:sp>
      <p:pic>
        <p:nvPicPr>
          <p:cNvPr id="7" name="Рисунок 6" descr="okhttp-1-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4949" y="3733801"/>
            <a:ext cx="2590800" cy="1619250"/>
          </a:xfrm>
          <a:prstGeom prst="rect">
            <a:avLst/>
          </a:prstGeom>
        </p:spPr>
      </p:pic>
      <p:pic>
        <p:nvPicPr>
          <p:cNvPr id="8" name="Рисунок 7" descr="Retrofit_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0055" y="5175505"/>
            <a:ext cx="3979545" cy="567798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166350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chemeClr val="accent1"/>
          </a:solidFill>
        </p:spPr>
        <p:txBody>
          <a:bodyPr>
            <a:normAutofit/>
          </a:bodyPr>
          <a:lstStyle/>
          <a:p>
            <a:r>
              <a:rPr lang="ru-RU" b="1" dirty="0" smtClean="0">
                <a:solidFill>
                  <a:schemeClr val="bg1"/>
                </a:solidFill>
              </a:rPr>
              <a:t>УП. 02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/>
          <a:lstStyle/>
          <a:p>
            <a:r>
              <a:rPr lang="ru-RU" b="1" dirty="0" smtClean="0">
                <a:solidFill>
                  <a:srgbClr val="002060"/>
                </a:solidFill>
              </a:rPr>
              <a:t>Тема: </a:t>
            </a:r>
            <a:r>
              <a:rPr lang="ru-RU" b="1" dirty="0" smtClean="0"/>
              <a:t>Магазин обуви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образования и науки Нижегородской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="" xmlns:p14="http://schemas.microsoft.com/office/powerpoint/2010/main" val="1566425014"/>
              </p:ext>
            </p:extLst>
          </p:nvPr>
        </p:nvGraphicFramePr>
        <p:xfrm>
          <a:off x="7383166" y="4673474"/>
          <a:ext cx="9152234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60517">
                  <a:extLst>
                    <a:ext uri="{9D8B030D-6E8A-4147-A177-3AD203B41FA5}">
                      <a16:colId xmlns="" xmlns:a16="http://schemas.microsoft.com/office/drawing/2014/main" val="856406293"/>
                    </a:ext>
                  </a:extLst>
                </a:gridCol>
                <a:gridCol w="4391717">
                  <a:extLst>
                    <a:ext uri="{9D8B030D-6E8A-4147-A177-3AD203B41FA5}">
                      <a16:colId xmlns="" xmlns:a16="http://schemas.microsoft.com/office/drawing/2014/main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Выполнил: </a:t>
                      </a:r>
                      <a:r>
                        <a:rPr lang="ru-RU" baseline="0" dirty="0" err="1" smtClean="0"/>
                        <a:t>Мудров</a:t>
                      </a:r>
                      <a:r>
                        <a:rPr lang="ru-RU" baseline="0" dirty="0" smtClean="0"/>
                        <a:t> Максим  Андреевич</a:t>
                      </a:r>
                      <a:endParaRPr lang="ru-RU" dirty="0" smtClean="0"/>
                    </a:p>
                    <a:p>
                      <a:pPr algn="l"/>
                      <a:r>
                        <a:rPr lang="ru-RU" baseline="0" dirty="0" smtClean="0"/>
                        <a:t>                       Студент 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</p:spTree>
    <p:extLst>
      <p:ext uri="{BB962C8B-B14F-4D97-AF65-F5344CB8AC3E}">
        <p14:creationId xmlns="" xmlns:p14="http://schemas.microsoft.com/office/powerpoint/2010/main" val="429053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643</TotalTime>
  <Words>86</Words>
  <Application>Microsoft Office PowerPoint</Application>
  <PresentationFormat>Произвольный</PresentationFormat>
  <Paragraphs>56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УП. 02</vt:lpstr>
      <vt:lpstr>Обзор проекта</vt:lpstr>
      <vt:lpstr>Функциональная структура приложения</vt:lpstr>
      <vt:lpstr>Функциональная структура приложения</vt:lpstr>
      <vt:lpstr>Архитектурный подход</vt:lpstr>
      <vt:lpstr>Реализация MVVM</vt:lpstr>
      <vt:lpstr>Диаграмма вариантов использования</vt:lpstr>
      <vt:lpstr>Реализация пользовательского интерфейса</vt:lpstr>
      <vt:lpstr>Сетевое взаимодействие</vt:lpstr>
      <vt:lpstr>УП. 02</vt:lpstr>
    </vt:vector>
  </TitlesOfParts>
  <Company>SPecialiST RePack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фшьшт</cp:lastModifiedBy>
  <cp:revision>55</cp:revision>
  <dcterms:created xsi:type="dcterms:W3CDTF">2022-06-15T10:15:27Z</dcterms:created>
  <dcterms:modified xsi:type="dcterms:W3CDTF">2025-12-19T20:17:49Z</dcterms:modified>
</cp:coreProperties>
</file>